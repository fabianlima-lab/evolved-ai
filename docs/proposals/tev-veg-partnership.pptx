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5150"/>
        </a:solidFill>
        <a:effectLst/>
      </p:bgPr>
    </p:bg>
    <p:spTree>
      <p:nvGrpSpPr>
        <p:cNvPr id="1" name=""/>
        <p:cNvGrpSpPr/>
        <p:nvPr/>
      </p:nvGrpSpPr>
      <p:grpSpPr/>
      <p:sp>
        <p:nvSpPr>
          <p:cNvPr id="2" name="TextBox 1"/>
          <p:cNvSpPr txBox="1"/>
          <p:nvPr/>
        </p:nvSpPr>
        <p:spPr>
          <a:xfrm>
            <a:off x="777240" y="1325880"/>
            <a:ext cx="10637215" cy="320040"/>
          </a:xfrm>
          <a:prstGeom prst="rect">
            <a:avLst/>
          </a:prstGeom>
          <a:noFill/>
        </p:spPr>
        <p:txBody>
          <a:bodyPr wrap="square" anchor="t" lIns="0" rIns="0" tIns="0" bIns="0">
            <a:spAutoFit/>
          </a:bodyPr>
          <a:lstStyle/>
          <a:p>
            <a:r>
              <a:rPr sz="1000" b="1" i="0">
                <a:solidFill>
                  <a:srgbClr val="B8D8D0"/>
                </a:solidFill>
                <a:latin typeface="DM Sans"/>
              </a:rPr>
              <a:t>T E V   &amp;   V E G   P A R T N E R S H I P</a:t>
            </a:r>
          </a:p>
        </p:txBody>
      </p:sp>
      <p:sp>
        <p:nvSpPr>
          <p:cNvPr id="3" name="TextBox 2"/>
          <p:cNvSpPr txBox="1"/>
          <p:nvPr/>
        </p:nvSpPr>
        <p:spPr>
          <a:xfrm>
            <a:off x="777240" y="1783080"/>
            <a:ext cx="8722516" cy="2194560"/>
          </a:xfrm>
          <a:prstGeom prst="rect">
            <a:avLst/>
          </a:prstGeom>
          <a:noFill/>
        </p:spPr>
        <p:txBody>
          <a:bodyPr wrap="square" anchor="t" lIns="0" rIns="0" tIns="0" bIns="0">
            <a:spAutoFit/>
          </a:bodyPr>
          <a:lstStyle/>
          <a:p>
            <a:r>
              <a:rPr sz="4600" b="0" i="0">
                <a:solidFill>
                  <a:srgbClr val="F3F1E9"/>
                </a:solidFill>
                <a:latin typeface="Georgia"/>
              </a:rPr>
              <a:t>The Evolved Vets Membership — for every VEGgie.</a:t>
            </a:r>
          </a:p>
        </p:txBody>
      </p:sp>
      <p:sp>
        <p:nvSpPr>
          <p:cNvPr id="4" name="Rectangle 3"/>
          <p:cNvSpPr/>
          <p:nvPr/>
        </p:nvSpPr>
        <p:spPr>
          <a:xfrm>
            <a:off x="777240" y="3977639"/>
            <a:ext cx="685800" cy="27432"/>
          </a:xfrm>
          <a:prstGeom prst="rect">
            <a:avLst/>
          </a:prstGeom>
          <a:solidFill>
            <a:srgbClr val="B8D8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251960"/>
            <a:ext cx="6595073" cy="1280160"/>
          </a:xfrm>
          <a:prstGeom prst="rect">
            <a:avLst/>
          </a:prstGeom>
          <a:noFill/>
        </p:spPr>
        <p:txBody>
          <a:bodyPr wrap="square" anchor="t" lIns="0" rIns="0" tIns="0" bIns="0">
            <a:spAutoFit/>
          </a:bodyPr>
          <a:lstStyle/>
          <a:p>
            <a:r>
              <a:rPr sz="1500" b="0" i="0">
                <a:solidFill>
                  <a:srgbClr val="BCC9C2"/>
                </a:solidFill>
                <a:latin typeface="DM Sans"/>
              </a:rPr>
              <a:t>A wellness &amp; leadership program — RACE-approved CE, live coaching, community, and recovery tools built by one of your own, for every veterinary professional at VEG.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756855" y="365760"/>
            <a:ext cx="3657600" cy="274320"/>
          </a:xfrm>
          <a:prstGeom prst="rect">
            <a:avLst/>
          </a:prstGeom>
          <a:noFill/>
        </p:spPr>
        <p:txBody>
          <a:bodyPr wrap="square" anchor="t" lIns="0" rIns="0" tIns="0" bIns="0">
            <a:spAutoFit/>
          </a:bodyPr>
          <a:lstStyle/>
          <a:p>
            <a:pPr algn="r"/>
            <a:r>
              <a:rPr sz="900" b="0" i="0">
                <a:solidFill>
                  <a:srgbClr val="6B6B64"/>
                </a:solidFill>
                <a:latin typeface="DM Sans"/>
              </a:rPr>
              <a:t>02 · The Vision</a:t>
            </a:r>
          </a:p>
        </p:txBody>
      </p:sp>
      <p:sp>
        <p:nvSpPr>
          <p:cNvPr id="3" name="TextBox 2"/>
          <p:cNvSpPr txBox="1"/>
          <p:nvPr/>
        </p:nvSpPr>
        <p:spPr>
          <a:xfrm>
            <a:off x="777240" y="502920"/>
            <a:ext cx="10637215" cy="320040"/>
          </a:xfrm>
          <a:prstGeom prst="rect">
            <a:avLst/>
          </a:prstGeom>
          <a:noFill/>
        </p:spPr>
        <p:txBody>
          <a:bodyPr wrap="square" anchor="t" lIns="0" rIns="0" tIns="0" bIns="0">
            <a:spAutoFit/>
          </a:bodyPr>
          <a:lstStyle/>
          <a:p>
            <a:r>
              <a:rPr sz="1000" b="1" i="0">
                <a:solidFill>
                  <a:srgbClr val="2A7C7B"/>
                </a:solidFill>
                <a:latin typeface="DM Sans"/>
              </a:rPr>
              <a:t>T H E   V I S I O N</a:t>
            </a:r>
          </a:p>
        </p:txBody>
      </p:sp>
      <p:sp>
        <p:nvSpPr>
          <p:cNvPr id="4" name="TextBox 3"/>
          <p:cNvSpPr txBox="1"/>
          <p:nvPr/>
        </p:nvSpPr>
        <p:spPr>
          <a:xfrm>
            <a:off x="777240" y="868680"/>
            <a:ext cx="9148005" cy="1463040"/>
          </a:xfrm>
          <a:prstGeom prst="rect">
            <a:avLst/>
          </a:prstGeom>
          <a:noFill/>
        </p:spPr>
        <p:txBody>
          <a:bodyPr wrap="square" anchor="t" lIns="0" rIns="0" tIns="0" bIns="0">
            <a:spAutoFit/>
          </a:bodyPr>
          <a:lstStyle/>
          <a:p>
            <a:r>
              <a:rPr sz="3000" b="0" i="0">
                <a:solidFill>
                  <a:srgbClr val="222220"/>
                </a:solidFill>
                <a:latin typeface="Georgia"/>
              </a:rPr>
              <a:t>The next evolution of VEG's innovation: its people.</a:t>
            </a:r>
          </a:p>
        </p:txBody>
      </p:sp>
      <p:sp>
        <p:nvSpPr>
          <p:cNvPr id="5" name="TextBox 4"/>
          <p:cNvSpPr txBox="1"/>
          <p:nvPr/>
        </p:nvSpPr>
        <p:spPr>
          <a:xfrm>
            <a:off x="777240" y="1737360"/>
            <a:ext cx="9360749" cy="822960"/>
          </a:xfrm>
          <a:prstGeom prst="rect">
            <a:avLst/>
          </a:prstGeom>
          <a:noFill/>
        </p:spPr>
        <p:txBody>
          <a:bodyPr wrap="square" anchor="t" lIns="0" rIns="0" tIns="0" bIns="0">
            <a:spAutoFit/>
          </a:bodyPr>
          <a:lstStyle/>
          <a:p>
            <a:r>
              <a:rPr sz="1200" b="0" i="1">
                <a:solidFill>
                  <a:srgbClr val="222220"/>
                </a:solidFill>
                <a:latin typeface="DM Sans"/>
              </a:rPr>
              <a:t>VEG has reimagined emergency medicine for pets. This partnership extends that same innovation to the wellbeing and leadership of the people delivering that care every day — and the peer-reviewed research says it works.</a:t>
            </a:r>
          </a:p>
        </p:txBody>
      </p:sp>
      <p:sp>
        <p:nvSpPr>
          <p:cNvPr id="6" name="TextBox 5"/>
          <p:cNvSpPr txBox="1"/>
          <p:nvPr/>
        </p:nvSpPr>
        <p:spPr>
          <a:xfrm>
            <a:off x="777240" y="2606040"/>
            <a:ext cx="9786237" cy="3886200"/>
          </a:xfrm>
          <a:prstGeom prst="rect">
            <a:avLst/>
          </a:prstGeom>
          <a:noFill/>
        </p:spPr>
        <p:txBody>
          <a:bodyPr wrap="square" anchor="t" lIns="0" rIns="0" tIns="0" bIns="0">
            <a:spAutoFit/>
          </a:bodyPr>
          <a:lstStyle/>
          <a:p>
            <a:pPr>
              <a:spcAft>
                <a:spcPts val="400"/>
              </a:spcAft>
            </a:pPr>
            <a:r>
              <a:rPr sz="1050" b="1" i="0">
                <a:solidFill>
                  <a:srgbClr val="2A7C7B"/>
                </a:solidFill>
                <a:latin typeface="DM Sans"/>
              </a:rPr>
              <a:t>—  </a:t>
            </a:r>
            <a:r>
              <a:rPr sz="1050" b="1" i="0">
                <a:solidFill>
                  <a:srgbClr val="222220"/>
                </a:solidFill>
                <a:latin typeface="DM Sans"/>
              </a:rPr>
              <a:t>Meditation works — for burnout and for leadership development. </a:t>
            </a:r>
            <a:r>
              <a:rPr sz="1050" b="0" i="0">
                <a:solidFill>
                  <a:srgbClr val="222220"/>
                </a:solidFill>
                <a:latin typeface="DM Sans"/>
              </a:rPr>
              <a:t>A mindfulness course for healthcare providers significantly reduced burnout on the Maslach Burnout Inventory scale and improved mental wellbeing. A major review in The Lancet confirms these programs meaningfully reduce burnout. And when leaders practice mindfulness, their teams do better.</a:t>
            </a:r>
          </a:p>
          <a:p>
            <a:pPr>
              <a:spcAft>
                <a:spcPts val="400"/>
              </a:spcAft>
            </a:pPr>
            <a:r>
              <a:rPr sz="1050" b="1" i="0">
                <a:solidFill>
                  <a:srgbClr val="2A7C7B"/>
                </a:solidFill>
                <a:latin typeface="DM Sans"/>
              </a:rPr>
              <a:t>—  </a:t>
            </a:r>
            <a:r>
              <a:rPr sz="1050" b="1" i="0">
                <a:solidFill>
                  <a:srgbClr val="222220"/>
                </a:solidFill>
                <a:latin typeface="DM Sans"/>
              </a:rPr>
              <a:t>The need reaches the whole team. </a:t>
            </a:r>
            <a:r>
              <a:rPr sz="1050" b="0" i="0">
                <a:solidFill>
                  <a:srgbClr val="222220"/>
                </a:solidFill>
                <a:latin typeface="DM Sans"/>
              </a:rPr>
              <a:t>In the peer-reviewed Merck Animal Health Veterinary Team study, conducted with the AVMA, serious psychological distress was twice as prevalent among nonveterinarian practice team members as among veterinarians.</a:t>
            </a:r>
          </a:p>
          <a:p>
            <a:pPr>
              <a:spcAft>
                <a:spcPts val="400"/>
              </a:spcAft>
            </a:pPr>
            <a:r>
              <a:rPr sz="1050" b="1" i="0">
                <a:solidFill>
                  <a:srgbClr val="2A7C7B"/>
                </a:solidFill>
                <a:latin typeface="DM Sans"/>
              </a:rPr>
              <a:t>—  </a:t>
            </a:r>
            <a:r>
              <a:rPr sz="1050" b="1" i="0">
                <a:solidFill>
                  <a:srgbClr val="222220"/>
                </a:solidFill>
                <a:latin typeface="DM Sans"/>
              </a:rPr>
              <a:t>The stakes are real. </a:t>
            </a:r>
            <a:r>
              <a:rPr sz="1050" b="0" i="0">
                <a:solidFill>
                  <a:srgbClr val="222220"/>
                </a:solidFill>
                <a:latin typeface="DM Sans"/>
              </a:rPr>
              <a:t>Veterinarians die by suicide at 2.1× (men) and 3.5× (women) the general-population rate; veterinary technicians 5.0× (men — small-sample estimate) and 2.3× (women).</a:t>
            </a:r>
          </a:p>
          <a:p>
            <a:pPr>
              <a:spcAft>
                <a:spcPts val="400"/>
              </a:spcAft>
            </a:pPr>
            <a:r>
              <a:rPr sz="1050" b="1" i="0">
                <a:solidFill>
                  <a:srgbClr val="2A7C7B"/>
                </a:solidFill>
                <a:latin typeface="DM Sans"/>
              </a:rPr>
              <a:t>—  </a:t>
            </a:r>
            <a:r>
              <a:rPr sz="1050" b="1" i="0">
                <a:solidFill>
                  <a:srgbClr val="222220"/>
                </a:solidFill>
                <a:latin typeface="DM Sans"/>
              </a:rPr>
              <a:t>And attrition is expensive. </a:t>
            </a:r>
            <a:r>
              <a:rPr sz="1050" b="0" i="0">
                <a:solidFill>
                  <a:srgbClr val="222220"/>
                </a:solidFill>
                <a:latin typeface="DM Sans"/>
              </a:rPr>
              <a:t>Replacing one employee costs one-half to two times their annual salary (Gallup), with average veterinary team turnover near 23% (AAHA).</a:t>
            </a:r>
          </a:p>
        </p:txBody>
      </p:sp>
      <p:sp>
        <p:nvSpPr>
          <p:cNvPr id="7" name="Rectangle 6"/>
          <p:cNvSpPr/>
          <p:nvPr/>
        </p:nvSpPr>
        <p:spPr>
          <a:xfrm>
            <a:off x="777240" y="5577840"/>
            <a:ext cx="45720" cy="658368"/>
          </a:xfrm>
          <a:prstGeom prst="rect">
            <a:avLst/>
          </a:prstGeom>
          <a:solidFill>
            <a:srgbClr val="2A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5577840"/>
            <a:ext cx="10166006" cy="658368"/>
          </a:xfrm>
          <a:prstGeom prst="roundRect">
            <a:avLst>
              <a:gd name="adj" fmla="val 2000"/>
            </a:avLst>
          </a:prstGeom>
          <a:solidFill>
            <a:srgbClr val="E9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91440" bIns="91440"/>
          <a:lstStyle/>
          <a:p>
            <a:pPr algn="ctr"/>
            <a:r>
              <a:rPr sz="1100" b="0" i="0">
                <a:solidFill>
                  <a:srgbClr val="222220"/>
                </a:solidFill>
                <a:latin typeface="DM Sans"/>
              </a:rPr>
              <a:t>This program is VEG's care for its VEGgies made tangible — part of how "VEGgies brag about their jobs and their friends are jealous," and it lives the ethos: </a:t>
            </a:r>
            <a:r>
              <a:rPr sz="1100" b="0" i="1">
                <a:solidFill>
                  <a:srgbClr val="222220"/>
                </a:solidFill>
                <a:latin typeface="DM Sans"/>
              </a:rPr>
              <a:t>"We treat pets like people and people like humans."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756855" y="365760"/>
            <a:ext cx="3657600" cy="274320"/>
          </a:xfrm>
          <a:prstGeom prst="rect">
            <a:avLst/>
          </a:prstGeom>
          <a:noFill/>
        </p:spPr>
        <p:txBody>
          <a:bodyPr wrap="square" anchor="t" lIns="0" rIns="0" tIns="0" bIns="0">
            <a:spAutoFit/>
          </a:bodyPr>
          <a:lstStyle/>
          <a:p>
            <a:pPr algn="r"/>
            <a:r>
              <a:rPr sz="900" b="0" i="0">
                <a:solidFill>
                  <a:srgbClr val="6B6B64"/>
                </a:solidFill>
                <a:latin typeface="DM Sans"/>
              </a:rPr>
              <a:t>03 · The Program</a:t>
            </a:r>
          </a:p>
        </p:txBody>
      </p:sp>
      <p:sp>
        <p:nvSpPr>
          <p:cNvPr id="3" name="TextBox 2"/>
          <p:cNvSpPr txBox="1"/>
          <p:nvPr/>
        </p:nvSpPr>
        <p:spPr>
          <a:xfrm>
            <a:off x="777240" y="502920"/>
            <a:ext cx="10637215" cy="320040"/>
          </a:xfrm>
          <a:prstGeom prst="rect">
            <a:avLst/>
          </a:prstGeom>
          <a:noFill/>
        </p:spPr>
        <p:txBody>
          <a:bodyPr wrap="square" anchor="t" lIns="0" rIns="0" tIns="0" bIns="0">
            <a:spAutoFit/>
          </a:bodyPr>
          <a:lstStyle/>
          <a:p>
            <a:r>
              <a:rPr sz="1000" b="1" i="0">
                <a:solidFill>
                  <a:srgbClr val="2A7C7B"/>
                </a:solidFill>
                <a:latin typeface="DM Sans"/>
              </a:rPr>
              <a:t>W H A T   T H E   M E M B E R S H I P   I S</a:t>
            </a:r>
          </a:p>
        </p:txBody>
      </p:sp>
      <p:sp>
        <p:nvSpPr>
          <p:cNvPr id="4" name="TextBox 3"/>
          <p:cNvSpPr txBox="1"/>
          <p:nvPr/>
        </p:nvSpPr>
        <p:spPr>
          <a:xfrm>
            <a:off x="777240" y="868680"/>
            <a:ext cx="9148005" cy="1463040"/>
          </a:xfrm>
          <a:prstGeom prst="rect">
            <a:avLst/>
          </a:prstGeom>
          <a:noFill/>
        </p:spPr>
        <p:txBody>
          <a:bodyPr wrap="square" anchor="t" lIns="0" rIns="0" tIns="0" bIns="0">
            <a:spAutoFit/>
          </a:bodyPr>
          <a:lstStyle/>
          <a:p>
            <a:r>
              <a:rPr sz="2700" b="0" i="0">
                <a:solidFill>
                  <a:srgbClr val="222220"/>
                </a:solidFill>
                <a:latin typeface="Georgia"/>
              </a:rPr>
              <a:t>Tools for the hard days. Support for the long game.</a:t>
            </a:r>
          </a:p>
        </p:txBody>
      </p:sp>
      <p:sp>
        <p:nvSpPr>
          <p:cNvPr id="5" name="TextBox 4"/>
          <p:cNvSpPr txBox="1"/>
          <p:nvPr/>
        </p:nvSpPr>
        <p:spPr>
          <a:xfrm>
            <a:off x="777240" y="1554480"/>
            <a:ext cx="9148005" cy="822960"/>
          </a:xfrm>
          <a:prstGeom prst="rect">
            <a:avLst/>
          </a:prstGeom>
          <a:noFill/>
        </p:spPr>
        <p:txBody>
          <a:bodyPr wrap="square" anchor="t" lIns="0" rIns="0" tIns="0" bIns="0">
            <a:spAutoFit/>
          </a:bodyPr>
          <a:lstStyle/>
          <a:p>
            <a:r>
              <a:rPr sz="1200" b="0" i="1">
                <a:solidFill>
                  <a:srgbClr val="222220"/>
                </a:solidFill>
                <a:latin typeface="DM Sans"/>
              </a:rPr>
              <a:t>VEG gains a year-round system for building confident, energized, communication-strong leaders — made by a veterinarian, for veterinary professionals.</a:t>
            </a:r>
          </a:p>
        </p:txBody>
      </p:sp>
      <p:sp>
        <p:nvSpPr>
          <p:cNvPr id="6" name="Rounded Rectangle 5"/>
          <p:cNvSpPr/>
          <p:nvPr/>
        </p:nvSpPr>
        <p:spPr>
          <a:xfrm>
            <a:off x="777240" y="2194560"/>
            <a:ext cx="3436010" cy="1188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T E V   C O N N E C T</a:t>
            </a:r>
          </a:p>
          <a:p>
            <a:r>
              <a:rPr sz="1000" b="0" i="0">
                <a:solidFill>
                  <a:srgbClr val="222220"/>
                </a:solidFill>
                <a:latin typeface="DM Sans"/>
              </a:rPr>
              <a:t>A private community of veterinary professionals supporting each other's growth, expansion, and leadership.</a:t>
            </a:r>
          </a:p>
        </p:txBody>
      </p:sp>
      <p:sp>
        <p:nvSpPr>
          <p:cNvPr id="7" name="Rounded Rectangle 6"/>
          <p:cNvSpPr/>
          <p:nvPr/>
        </p:nvSpPr>
        <p:spPr>
          <a:xfrm>
            <a:off x="4377842" y="2194560"/>
            <a:ext cx="3436010" cy="1188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V E T   R E S E T S</a:t>
            </a:r>
          </a:p>
          <a:p>
            <a:r>
              <a:rPr sz="1000" b="0" i="0">
                <a:solidFill>
                  <a:srgbClr val="222220"/>
                </a:solidFill>
                <a:latin typeface="DM Sans"/>
              </a:rPr>
              <a:t>Quick meditations made for veterinary professionals — Shift Shedding, Surgery Confidence Boost, Reconnecting With Your Why.</a:t>
            </a:r>
          </a:p>
        </p:txBody>
      </p:sp>
      <p:sp>
        <p:nvSpPr>
          <p:cNvPr id="8" name="Rounded Rectangle 7"/>
          <p:cNvSpPr/>
          <p:nvPr/>
        </p:nvSpPr>
        <p:spPr>
          <a:xfrm>
            <a:off x="7978444" y="2194560"/>
            <a:ext cx="3436010" cy="1188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L I V E   C O A C H I N G</a:t>
            </a:r>
          </a:p>
          <a:p>
            <a:r>
              <a:rPr sz="1000" b="0" i="0">
                <a:solidFill>
                  <a:srgbClr val="222220"/>
                </a:solidFill>
                <a:latin typeface="DM Sans"/>
              </a:rPr>
              <a:t>Monthly live group coaching calls supporting each member's personal and professional evolution.</a:t>
            </a:r>
          </a:p>
        </p:txBody>
      </p:sp>
      <p:sp>
        <p:nvSpPr>
          <p:cNvPr id="9" name="Rounded Rectangle 8"/>
          <p:cNvSpPr/>
          <p:nvPr/>
        </p:nvSpPr>
        <p:spPr>
          <a:xfrm>
            <a:off x="777240" y="3547872"/>
            <a:ext cx="3436010" cy="1188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M A S T E R C L A S S   E V O L U T I O N S</a:t>
            </a:r>
          </a:p>
          <a:p>
            <a:r>
              <a:rPr sz="1000" b="0" i="0">
                <a:solidFill>
                  <a:srgbClr val="222220"/>
                </a:solidFill>
                <a:latin typeface="DM Sans"/>
              </a:rPr>
              <a:t>Biannual group programs — Summer and New Year — working through a new Masterclass together, week by week.</a:t>
            </a:r>
          </a:p>
        </p:txBody>
      </p:sp>
      <p:sp>
        <p:nvSpPr>
          <p:cNvPr id="10" name="Rounded Rectangle 9"/>
          <p:cNvSpPr/>
          <p:nvPr/>
        </p:nvSpPr>
        <p:spPr>
          <a:xfrm>
            <a:off x="4377842" y="3547872"/>
            <a:ext cx="3436010" cy="1188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R A C E - A P P R O V E D   C E</a:t>
            </a:r>
          </a:p>
          <a:p>
            <a:r>
              <a:rPr sz="1000" b="0" i="0">
                <a:solidFill>
                  <a:srgbClr val="222220"/>
                </a:solidFill>
                <a:latin typeface="DM Sans"/>
              </a:rPr>
              <a:t>30 hours of RACE approval available throughout the year — wellbeing work that also counts toward licensure.</a:t>
            </a:r>
          </a:p>
        </p:txBody>
      </p:sp>
      <p:sp>
        <p:nvSpPr>
          <p:cNvPr id="11" name="Rounded Rectangle 10"/>
          <p:cNvSpPr/>
          <p:nvPr/>
        </p:nvSpPr>
        <p:spPr>
          <a:xfrm>
            <a:off x="7978444" y="3547872"/>
            <a:ext cx="3436010" cy="1188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A U D I O   A R C H I V E</a:t>
            </a:r>
          </a:p>
          <a:p>
            <a:r>
              <a:rPr sz="1000" b="0" i="0">
                <a:solidFill>
                  <a:srgbClr val="222220"/>
                </a:solidFill>
                <a:latin typeface="DM Sans"/>
              </a:rPr>
              <a:t>A growing collection of every meditation, elevation, and integration from TEV Masterclasses, on demand.</a:t>
            </a:r>
          </a:p>
        </p:txBody>
      </p:sp>
      <p:sp>
        <p:nvSpPr>
          <p:cNvPr id="12" name="Rectangle 11"/>
          <p:cNvSpPr/>
          <p:nvPr/>
        </p:nvSpPr>
        <p:spPr>
          <a:xfrm>
            <a:off x="777240" y="5212080"/>
            <a:ext cx="45720" cy="475488"/>
          </a:xfrm>
          <a:prstGeom prst="rect">
            <a:avLst/>
          </a:prstGeom>
          <a:solidFill>
            <a:srgbClr val="2A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5212080"/>
            <a:ext cx="10166006" cy="475488"/>
          </a:xfrm>
          <a:prstGeom prst="roundRect">
            <a:avLst>
              <a:gd name="adj" fmla="val 2000"/>
            </a:avLst>
          </a:prstGeom>
          <a:solidFill>
            <a:srgbClr val="E9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91440" bIns="91440"/>
          <a:lstStyle/>
          <a:p>
            <a:pPr algn="ctr"/>
            <a:r>
              <a:rPr sz="1100" b="0" i="0">
                <a:solidFill>
                  <a:srgbClr val="222220"/>
                </a:solidFill>
                <a:latin typeface="DM Sans"/>
              </a:rPr>
              <a:t>And it never stands still: VEGgies get every </a:t>
            </a:r>
            <a:r>
              <a:rPr sz="1100" b="1" i="0">
                <a:solidFill>
                  <a:srgbClr val="222220"/>
                </a:solidFill>
                <a:latin typeface="DM Sans"/>
              </a:rPr>
              <a:t>new course, meditation, and monthly coaching call</a:t>
            </a:r>
            <a:r>
              <a:rPr sz="1100" b="0" i="0">
                <a:solidFill>
                  <a:srgbClr val="222220"/>
                </a:solidFill>
                <a:latin typeface="DM Sans"/>
              </a:rPr>
              <a:t> as they're released — the membership grows all year, at no added cost to VEG.</a:t>
            </a:r>
          </a:p>
        </p:txBody>
      </p:sp>
      <p:sp>
        <p:nvSpPr>
          <p:cNvPr id="14" name="Rounded Rectangle 13"/>
          <p:cNvSpPr/>
          <p:nvPr/>
        </p:nvSpPr>
        <p:spPr>
          <a:xfrm>
            <a:off x="777240" y="5870448"/>
            <a:ext cx="10211726" cy="502920"/>
          </a:xfrm>
          <a:prstGeom prst="roundRect">
            <a:avLst>
              <a:gd name="adj" fmla="val 2000"/>
            </a:avLst>
          </a:prstGeom>
          <a:solidFill>
            <a:srgbClr val="1E51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82296" bIns="82296"/>
          <a:lstStyle/>
          <a:p>
            <a:pPr algn="ctr"/>
            <a:r>
              <a:rPr sz="1000" b="1" i="0">
                <a:solidFill>
                  <a:srgbClr val="B8D8D0"/>
                </a:solidFill>
                <a:latin typeface="DM Sans"/>
              </a:rPr>
              <a:t>V E G   B O N U S    </a:t>
            </a:r>
            <a:r>
              <a:rPr sz="1100" b="0" i="0">
                <a:solidFill>
                  <a:srgbClr val="F3F1E9"/>
                </a:solidFill>
                <a:latin typeface="DM Sans"/>
              </a:rPr>
              <a:t>Hospital-wide facilitations — available to individual VEG hospital locations upon request.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756855" y="365760"/>
            <a:ext cx="3657600" cy="274320"/>
          </a:xfrm>
          <a:prstGeom prst="rect">
            <a:avLst/>
          </a:prstGeom>
          <a:noFill/>
        </p:spPr>
        <p:txBody>
          <a:bodyPr wrap="square" anchor="t" lIns="0" rIns="0" tIns="0" bIns="0">
            <a:spAutoFit/>
          </a:bodyPr>
          <a:lstStyle/>
          <a:p>
            <a:pPr algn="r"/>
            <a:r>
              <a:rPr sz="900" b="0" i="0">
                <a:solidFill>
                  <a:srgbClr val="6B6B64"/>
                </a:solidFill>
                <a:latin typeface="DM Sans"/>
              </a:rPr>
              <a:t>04 · The Program</a:t>
            </a:r>
          </a:p>
        </p:txBody>
      </p:sp>
      <p:sp>
        <p:nvSpPr>
          <p:cNvPr id="3" name="TextBox 2"/>
          <p:cNvSpPr txBox="1"/>
          <p:nvPr/>
        </p:nvSpPr>
        <p:spPr>
          <a:xfrm>
            <a:off x="777240" y="502920"/>
            <a:ext cx="10637215" cy="320040"/>
          </a:xfrm>
          <a:prstGeom prst="rect">
            <a:avLst/>
          </a:prstGeom>
          <a:noFill/>
        </p:spPr>
        <p:txBody>
          <a:bodyPr wrap="square" anchor="t" lIns="0" rIns="0" tIns="0" bIns="0">
            <a:spAutoFit/>
          </a:bodyPr>
          <a:lstStyle/>
          <a:p>
            <a:r>
              <a:rPr sz="1000" b="1" i="0">
                <a:solidFill>
                  <a:srgbClr val="2A7C7B"/>
                </a:solidFill>
                <a:latin typeface="DM Sans"/>
              </a:rPr>
              <a:t>H O W   I T   W O R K S</a:t>
            </a:r>
          </a:p>
        </p:txBody>
      </p:sp>
      <p:sp>
        <p:nvSpPr>
          <p:cNvPr id="4" name="TextBox 3"/>
          <p:cNvSpPr txBox="1"/>
          <p:nvPr/>
        </p:nvSpPr>
        <p:spPr>
          <a:xfrm>
            <a:off x="777240" y="868680"/>
            <a:ext cx="9148005" cy="1463040"/>
          </a:xfrm>
          <a:prstGeom prst="rect">
            <a:avLst/>
          </a:prstGeom>
          <a:noFill/>
        </p:spPr>
        <p:txBody>
          <a:bodyPr wrap="square" anchor="t" lIns="0" rIns="0" tIns="0" bIns="0">
            <a:spAutoFit/>
          </a:bodyPr>
          <a:lstStyle/>
          <a:p>
            <a:r>
              <a:rPr sz="3000" b="0" i="0">
                <a:solidFill>
                  <a:srgbClr val="222220"/>
                </a:solidFill>
                <a:latin typeface="Georgia"/>
              </a:rPr>
              <a:t>Made for the way VEGgies actually work.</a:t>
            </a:r>
          </a:p>
        </p:txBody>
      </p:sp>
      <p:sp>
        <p:nvSpPr>
          <p:cNvPr id="5" name="Rounded Rectangle 4"/>
          <p:cNvSpPr/>
          <p:nvPr/>
        </p:nvSpPr>
        <p:spPr>
          <a:xfrm>
            <a:off x="777240" y="1920240"/>
            <a:ext cx="5227167" cy="251460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C R E A T E D   B Y   A N   E X P E R T   W H O   L I V E S   I T</a:t>
            </a:r>
          </a:p>
          <a:p>
            <a:r>
              <a:rPr sz="1000" b="0" i="0">
                <a:solidFill>
                  <a:srgbClr val="222220"/>
                </a:solidFill>
                <a:latin typeface="DM Sans"/>
              </a:rPr>
              <a:t>Dr. Bethany Weinheimer is a practicing ER veterinarian who knows overnights, caseload stress, and compassion fatigue firsthand. A Certified 3VQ Coach since 2019, she lectures to hospitals on culture and wellbeing, and has spent 12 years studying and applying neuroplasticity to help prevent burnout in the veterinary profession. That work became the TEV Method — a process for executive coaching centered on wellbeing and leadership development.</a:t>
            </a:r>
          </a:p>
        </p:txBody>
      </p:sp>
      <p:sp>
        <p:nvSpPr>
          <p:cNvPr id="6" name="Rounded Rectangle 5"/>
          <p:cNvSpPr/>
          <p:nvPr/>
        </p:nvSpPr>
        <p:spPr>
          <a:xfrm>
            <a:off x="6187287" y="1920240"/>
            <a:ext cx="5227167" cy="1188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A L R E A D Y   B U I L T   &amp;   R U N N I N G</a:t>
            </a:r>
          </a:p>
          <a:p>
            <a:r>
              <a:rPr sz="1000" b="0" i="0">
                <a:solidFill>
                  <a:srgbClr val="222220"/>
                </a:solidFill>
                <a:latin typeface="DM Sans"/>
              </a:rPr>
              <a:t>The membership is live today with paying members: community, coaching calls, meditation library, masterclasses, and RACE-approved CE all operating now.</a:t>
            </a:r>
          </a:p>
        </p:txBody>
      </p:sp>
      <p:sp>
        <p:nvSpPr>
          <p:cNvPr id="7" name="Rounded Rectangle 6"/>
          <p:cNvSpPr/>
          <p:nvPr/>
        </p:nvSpPr>
        <p:spPr>
          <a:xfrm>
            <a:off x="6187287" y="3246120"/>
            <a:ext cx="5227167" cy="1188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O N E   C L I C K   V I A   O K T A</a:t>
            </a:r>
          </a:p>
          <a:p>
            <a:r>
              <a:rPr sz="1000" b="0" i="0">
                <a:solidFill>
                  <a:srgbClr val="222220"/>
                </a:solidFill>
                <a:latin typeface="DM Sans"/>
              </a:rPr>
              <a:t>The membership site lives as a tile in VEG's Okta dashboard. A VEGgie clicks it and lands in the member portal — no friction between a hard shift and the tools.</a:t>
            </a:r>
          </a:p>
        </p:txBody>
      </p:sp>
      <p:sp>
        <p:nvSpPr>
          <p:cNvPr id="8" name="Rounded Rectangle 7"/>
          <p:cNvSpPr/>
          <p:nvPr/>
        </p:nvSpPr>
        <p:spPr>
          <a:xfrm>
            <a:off x="777240" y="4572000"/>
            <a:ext cx="5227167" cy="105156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Z E R O   I T   B U R D E N   O N   V E G</a:t>
            </a:r>
          </a:p>
          <a:p>
            <a:r>
              <a:rPr sz="1000" b="0" i="0">
                <a:solidFill>
                  <a:srgbClr val="222220"/>
                </a:solidFill>
                <a:latin typeface="DM Sans"/>
              </a:rPr>
              <a:t>Hosting, enrollment, content, and support are all handled by the program. VEG's only role is the partnership and adding the tile.</a:t>
            </a:r>
          </a:p>
        </p:txBody>
      </p:sp>
      <p:sp>
        <p:nvSpPr>
          <p:cNvPr id="9" name="Rounded Rectangle 8"/>
          <p:cNvSpPr/>
          <p:nvPr/>
        </p:nvSpPr>
        <p:spPr>
          <a:xfrm>
            <a:off x="6187287" y="4572000"/>
            <a:ext cx="5227167" cy="105156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A   P L A Y B O O K   V E G   A L R E A D Y   K N O W S</a:t>
            </a:r>
          </a:p>
          <a:p>
            <a:r>
              <a:rPr sz="1000" b="0" i="0">
                <a:solidFill>
                  <a:srgbClr val="222220"/>
                </a:solidFill>
                <a:latin typeface="DM Sans"/>
              </a:rPr>
              <a:t>Like the farm-training program — an independent initiative VEG invests in because of its impact on VEGgies.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756855" y="365760"/>
            <a:ext cx="3657600" cy="274320"/>
          </a:xfrm>
          <a:prstGeom prst="rect">
            <a:avLst/>
          </a:prstGeom>
          <a:noFill/>
        </p:spPr>
        <p:txBody>
          <a:bodyPr wrap="square" anchor="t" lIns="0" rIns="0" tIns="0" bIns="0">
            <a:spAutoFit/>
          </a:bodyPr>
          <a:lstStyle/>
          <a:p>
            <a:pPr algn="r"/>
            <a:r>
              <a:rPr sz="900" b="0" i="0">
                <a:solidFill>
                  <a:srgbClr val="6B6B64"/>
                </a:solidFill>
                <a:latin typeface="DM Sans"/>
              </a:rPr>
              <a:t>05 · The Model</a:t>
            </a:r>
          </a:p>
        </p:txBody>
      </p:sp>
      <p:sp>
        <p:nvSpPr>
          <p:cNvPr id="3" name="TextBox 2"/>
          <p:cNvSpPr txBox="1"/>
          <p:nvPr/>
        </p:nvSpPr>
        <p:spPr>
          <a:xfrm>
            <a:off x="777240" y="502920"/>
            <a:ext cx="10637215" cy="320040"/>
          </a:xfrm>
          <a:prstGeom prst="rect">
            <a:avLst/>
          </a:prstGeom>
          <a:noFill/>
        </p:spPr>
        <p:txBody>
          <a:bodyPr wrap="square" anchor="t" lIns="0" rIns="0" tIns="0" bIns="0">
            <a:spAutoFit/>
          </a:bodyPr>
          <a:lstStyle/>
          <a:p>
            <a:r>
              <a:rPr sz="1000" b="1" i="0">
                <a:solidFill>
                  <a:srgbClr val="2A7C7B"/>
                </a:solidFill>
                <a:latin typeface="DM Sans"/>
              </a:rPr>
              <a:t>T H E   M O D E L</a:t>
            </a:r>
          </a:p>
        </p:txBody>
      </p:sp>
      <p:sp>
        <p:nvSpPr>
          <p:cNvPr id="4" name="TextBox 3"/>
          <p:cNvSpPr txBox="1"/>
          <p:nvPr/>
        </p:nvSpPr>
        <p:spPr>
          <a:xfrm>
            <a:off x="777240" y="868680"/>
            <a:ext cx="9148005" cy="1463040"/>
          </a:xfrm>
          <a:prstGeom prst="rect">
            <a:avLst/>
          </a:prstGeom>
          <a:noFill/>
        </p:spPr>
        <p:txBody>
          <a:bodyPr wrap="square" anchor="t" lIns="0" rIns="0" tIns="0" bIns="0">
            <a:spAutoFit/>
          </a:bodyPr>
          <a:lstStyle/>
          <a:p>
            <a:r>
              <a:rPr sz="3200" b="0" i="0">
                <a:solidFill>
                  <a:srgbClr val="222220"/>
                </a:solidFill>
                <a:latin typeface="Georgia"/>
              </a:rPr>
              <a:t>A playbook VEG already knows.</a:t>
            </a:r>
          </a:p>
        </p:txBody>
      </p:sp>
      <p:sp>
        <p:nvSpPr>
          <p:cNvPr id="5" name="TextBox 4"/>
          <p:cNvSpPr txBox="1"/>
          <p:nvPr/>
        </p:nvSpPr>
        <p:spPr>
          <a:xfrm>
            <a:off x="777240" y="1737360"/>
            <a:ext cx="9148005" cy="822960"/>
          </a:xfrm>
          <a:prstGeom prst="rect">
            <a:avLst/>
          </a:prstGeom>
          <a:noFill/>
        </p:spPr>
        <p:txBody>
          <a:bodyPr wrap="square" anchor="t" lIns="0" rIns="0" tIns="0" bIns="0">
            <a:spAutoFit/>
          </a:bodyPr>
          <a:lstStyle/>
          <a:p>
            <a:r>
              <a:rPr sz="1200" b="0" i="1">
                <a:solidFill>
                  <a:srgbClr val="222220"/>
                </a:solidFill>
                <a:latin typeface="DM Sans"/>
              </a:rPr>
              <a:t>Like the farm-training program: an independent initiative that VEG invests in because of its impact on VEGgies.</a:t>
            </a:r>
          </a:p>
        </p:txBody>
      </p:sp>
      <p:sp>
        <p:nvSpPr>
          <p:cNvPr id="6" name="TextBox 5"/>
          <p:cNvSpPr txBox="1"/>
          <p:nvPr/>
        </p:nvSpPr>
        <p:spPr>
          <a:xfrm>
            <a:off x="777240" y="2468880"/>
            <a:ext cx="9786237" cy="4023359"/>
          </a:xfrm>
          <a:prstGeom prst="rect">
            <a:avLst/>
          </a:prstGeom>
          <a:noFill/>
        </p:spPr>
        <p:txBody>
          <a:bodyPr wrap="square" anchor="t" lIns="0" rIns="0" tIns="0" bIns="0">
            <a:spAutoFit/>
          </a:bodyPr>
          <a:lstStyle/>
          <a:p>
            <a:pPr>
              <a:spcAft>
                <a:spcPts val="700"/>
              </a:spcAft>
            </a:pPr>
            <a:r>
              <a:rPr sz="1150" b="1" i="0">
                <a:solidFill>
                  <a:srgbClr val="2A7C7B"/>
                </a:solidFill>
                <a:latin typeface="DM Sans"/>
              </a:rPr>
              <a:t>—  </a:t>
            </a:r>
            <a:r>
              <a:rPr sz="1150" b="1" i="0">
                <a:solidFill>
                  <a:srgbClr val="222220"/>
                </a:solidFill>
                <a:latin typeface="DM Sans"/>
              </a:rPr>
              <a:t>Bethany owns and operates the program </a:t>
            </a:r>
            <a:r>
              <a:rPr sz="1150" b="0" i="0">
                <a:solidFill>
                  <a:srgbClr val="222220"/>
                </a:solidFill>
                <a:latin typeface="DM Sans"/>
              </a:rPr>
              <a:t>as an independent initiative, not VEG-branded, per your requests.</a:t>
            </a:r>
          </a:p>
          <a:p>
            <a:pPr>
              <a:spcAft>
                <a:spcPts val="700"/>
              </a:spcAft>
            </a:pPr>
            <a:r>
              <a:rPr sz="1150" b="1" i="0">
                <a:solidFill>
                  <a:srgbClr val="2A7C7B"/>
                </a:solidFill>
                <a:latin typeface="DM Sans"/>
              </a:rPr>
              <a:t>—  </a:t>
            </a:r>
            <a:r>
              <a:rPr sz="1150" b="1" i="0">
                <a:solidFill>
                  <a:srgbClr val="222220"/>
                </a:solidFill>
                <a:latin typeface="DM Sans"/>
              </a:rPr>
              <a:t>An enterprise partnership. </a:t>
            </a:r>
            <a:r>
              <a:rPr sz="1150" b="0" i="0">
                <a:solidFill>
                  <a:srgbClr val="222220"/>
                </a:solidFill>
                <a:latin typeface="DM Sans"/>
              </a:rPr>
              <a:t>Unlimited access for every VEG employee through one annual organizational investment.</a:t>
            </a:r>
          </a:p>
          <a:p>
            <a:pPr>
              <a:spcAft>
                <a:spcPts val="700"/>
              </a:spcAft>
            </a:pPr>
            <a:r>
              <a:rPr sz="1150" b="1" i="0">
                <a:solidFill>
                  <a:srgbClr val="2A7C7B"/>
                </a:solidFill>
                <a:latin typeface="DM Sans"/>
              </a:rPr>
              <a:t>—  </a:t>
            </a:r>
            <a:r>
              <a:rPr sz="1150" b="1" i="0">
                <a:solidFill>
                  <a:srgbClr val="222220"/>
                </a:solidFill>
                <a:latin typeface="DM Sans"/>
              </a:rPr>
              <a:t>One membership. All VEGgies. </a:t>
            </a:r>
            <a:r>
              <a:rPr sz="1150" b="0" i="0">
                <a:solidFill>
                  <a:srgbClr val="222220"/>
                </a:solidFill>
                <a:latin typeface="DM Sans"/>
              </a:rPr>
              <a:t>Open to every VEGgie — and the investment stays fixed as VEG grows. With 28 new hospitals opening next year, that's at least another 900 VEGgies included.</a:t>
            </a:r>
          </a:p>
          <a:p>
            <a:pPr>
              <a:spcAft>
                <a:spcPts val="700"/>
              </a:spcAft>
            </a:pPr>
            <a:r>
              <a:rPr sz="1150" b="1" i="0">
                <a:solidFill>
                  <a:srgbClr val="2A7C7B"/>
                </a:solidFill>
                <a:latin typeface="DM Sans"/>
              </a:rPr>
              <a:t>—  </a:t>
            </a:r>
            <a:r>
              <a:rPr sz="1150" b="1" i="0">
                <a:solidFill>
                  <a:srgbClr val="222220"/>
                </a:solidFill>
                <a:latin typeface="DM Sans"/>
              </a:rPr>
              <a:t>Outside sales stay separate. </a:t>
            </a:r>
            <a:r>
              <a:rPr sz="1150" b="0" i="0">
                <a:solidFill>
                  <a:srgbClr val="222220"/>
                </a:solidFill>
                <a:latin typeface="DM Sans"/>
              </a:rPr>
              <a:t>The public-facing product continues independently and will never present itself as VEG-sponsored or VEG-branded.</a:t>
            </a:r>
          </a:p>
          <a:p>
            <a:pPr>
              <a:spcAft>
                <a:spcPts val="700"/>
              </a:spcAft>
            </a:pPr>
            <a:r>
              <a:rPr sz="1150" b="1" i="0">
                <a:solidFill>
                  <a:srgbClr val="2A7C7B"/>
                </a:solidFill>
                <a:latin typeface="DM Sans"/>
              </a:rPr>
              <a:t>—  </a:t>
            </a:r>
            <a:r>
              <a:rPr sz="1150" b="1" i="0">
                <a:solidFill>
                  <a:srgbClr val="222220"/>
                </a:solidFill>
                <a:latin typeface="DM Sans"/>
              </a:rPr>
              <a:t>Built around VEGgies. </a:t>
            </a:r>
            <a:r>
              <a:rPr sz="1150" b="0" i="0">
                <a:solidFill>
                  <a:srgbClr val="222220"/>
                </a:solidFill>
                <a:latin typeface="DM Sans"/>
              </a:rPr>
              <a:t>VEG shares what its people need, and Bethany keeps building the courses and meditations with their needs in mind — reviewed together on an ongoing basis.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756855" y="365760"/>
            <a:ext cx="3657600" cy="274320"/>
          </a:xfrm>
          <a:prstGeom prst="rect">
            <a:avLst/>
          </a:prstGeom>
          <a:noFill/>
        </p:spPr>
        <p:txBody>
          <a:bodyPr wrap="square" anchor="t" lIns="0" rIns="0" tIns="0" bIns="0">
            <a:spAutoFit/>
          </a:bodyPr>
          <a:lstStyle/>
          <a:p>
            <a:pPr algn="r"/>
            <a:r>
              <a:rPr sz="900" b="0" i="0">
                <a:solidFill>
                  <a:srgbClr val="6B6B64"/>
                </a:solidFill>
                <a:latin typeface="DM Sans"/>
              </a:rPr>
              <a:t>06 · The Return</a:t>
            </a:r>
          </a:p>
        </p:txBody>
      </p:sp>
      <p:sp>
        <p:nvSpPr>
          <p:cNvPr id="3" name="TextBox 2"/>
          <p:cNvSpPr txBox="1"/>
          <p:nvPr/>
        </p:nvSpPr>
        <p:spPr>
          <a:xfrm>
            <a:off x="777240" y="502920"/>
            <a:ext cx="10637215" cy="320040"/>
          </a:xfrm>
          <a:prstGeom prst="rect">
            <a:avLst/>
          </a:prstGeom>
          <a:noFill/>
        </p:spPr>
        <p:txBody>
          <a:bodyPr wrap="square" anchor="t" lIns="0" rIns="0" tIns="0" bIns="0">
            <a:spAutoFit/>
          </a:bodyPr>
          <a:lstStyle/>
          <a:p>
            <a:r>
              <a:rPr sz="1000" b="1" i="0">
                <a:solidFill>
                  <a:srgbClr val="2A7C7B"/>
                </a:solidFill>
                <a:latin typeface="DM Sans"/>
              </a:rPr>
              <a:t>T H E   R E T U R N</a:t>
            </a:r>
          </a:p>
        </p:txBody>
      </p:sp>
      <p:sp>
        <p:nvSpPr>
          <p:cNvPr id="4" name="TextBox 3"/>
          <p:cNvSpPr txBox="1"/>
          <p:nvPr/>
        </p:nvSpPr>
        <p:spPr>
          <a:xfrm>
            <a:off x="777240" y="868680"/>
            <a:ext cx="9148005" cy="1463040"/>
          </a:xfrm>
          <a:prstGeom prst="rect">
            <a:avLst/>
          </a:prstGeom>
          <a:noFill/>
        </p:spPr>
        <p:txBody>
          <a:bodyPr wrap="square" anchor="t" lIns="0" rIns="0" tIns="0" bIns="0">
            <a:spAutoFit/>
          </a:bodyPr>
          <a:lstStyle/>
          <a:p>
            <a:r>
              <a:rPr sz="3200" b="0" i="0">
                <a:solidFill>
                  <a:srgbClr val="222220"/>
                </a:solidFill>
                <a:latin typeface="Georgia"/>
              </a:rPr>
              <a:t>The returns.</a:t>
            </a:r>
          </a:p>
        </p:txBody>
      </p:sp>
      <p:sp>
        <p:nvSpPr>
          <p:cNvPr id="5" name="TextBox 4"/>
          <p:cNvSpPr txBox="1"/>
          <p:nvPr/>
        </p:nvSpPr>
        <p:spPr>
          <a:xfrm>
            <a:off x="777240" y="1691640"/>
            <a:ext cx="9148005" cy="822960"/>
          </a:xfrm>
          <a:prstGeom prst="rect">
            <a:avLst/>
          </a:prstGeom>
          <a:noFill/>
        </p:spPr>
        <p:txBody>
          <a:bodyPr wrap="square" anchor="t" lIns="0" rIns="0" tIns="0" bIns="0">
            <a:spAutoFit/>
          </a:bodyPr>
          <a:lstStyle/>
          <a:p>
            <a:r>
              <a:rPr sz="1200" b="0" i="1">
                <a:solidFill>
                  <a:srgbClr val="222220"/>
                </a:solidFill>
                <a:latin typeface="DM Sans"/>
              </a:rPr>
              <a:t>Retention, leadership, and culture — value measured in the terms VEG already uses.</a:t>
            </a:r>
          </a:p>
        </p:txBody>
      </p:sp>
      <p:sp>
        <p:nvSpPr>
          <p:cNvPr id="6" name="Rounded Rectangle 5"/>
          <p:cNvSpPr/>
          <p:nvPr/>
        </p:nvSpPr>
        <p:spPr>
          <a:xfrm>
            <a:off x="777240" y="2240280"/>
            <a:ext cx="3436010" cy="2331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O N E   R E T A I N E D   V E T E R I N A R I A N</a:t>
            </a:r>
          </a:p>
          <a:p>
            <a:r>
              <a:rPr sz="1000" b="0" i="0">
                <a:solidFill>
                  <a:srgbClr val="222220"/>
                </a:solidFill>
                <a:latin typeface="DM Sans"/>
              </a:rPr>
              <a:t>One retained veterinarian more than covers the entire annual investment. The average practice generates ~$555,000 in revenue per veterinarian per year (AVMA, 2024), and the average DVM hire takes 15 months to fill (AAHA, 2023) — an empty seat costs roughly $46,000 a month in lost production alone.</a:t>
            </a:r>
          </a:p>
        </p:txBody>
      </p:sp>
      <p:sp>
        <p:nvSpPr>
          <p:cNvPr id="7" name="Rounded Rectangle 6"/>
          <p:cNvSpPr/>
          <p:nvPr/>
        </p:nvSpPr>
        <p:spPr>
          <a:xfrm>
            <a:off x="4377842" y="2240280"/>
            <a:ext cx="3436010" cy="14173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O N E   L E A D E R   D E V E L O P E D</a:t>
            </a:r>
          </a:p>
          <a:p>
            <a:r>
              <a:rPr sz="1000" b="0" i="0">
                <a:solidFill>
                  <a:srgbClr val="222220"/>
                </a:solidFill>
                <a:latin typeface="DM Sans"/>
              </a:rPr>
              <a:t>A leader promoted — or kept in seat — through greater emotional regulation and growth shapes the experience of every VEGgie they lead. Leadership development compounds.</a:t>
            </a:r>
          </a:p>
        </p:txBody>
      </p:sp>
      <p:sp>
        <p:nvSpPr>
          <p:cNvPr id="8" name="Rounded Rectangle 7"/>
          <p:cNvSpPr/>
          <p:nvPr/>
        </p:nvSpPr>
        <p:spPr>
          <a:xfrm>
            <a:off x="7978444" y="2240280"/>
            <a:ext cx="3436010" cy="169164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T H E   S C A L E   O F   T U R N O V E R</a:t>
            </a:r>
          </a:p>
          <a:p>
            <a:r>
              <a:rPr sz="1000" b="0" i="0">
                <a:solidFill>
                  <a:srgbClr val="222220"/>
                </a:solidFill>
                <a:latin typeface="DM Sans"/>
              </a:rPr>
              <a:t>At the industry's ~23% team turnover (AAHA), 5,200 VEGgies means roughly 1,200 team transitions a year. Preventing even 1–2% of departures would return several multiples of its annual cost.</a:t>
            </a:r>
          </a:p>
        </p:txBody>
      </p:sp>
      <p:sp>
        <p:nvSpPr>
          <p:cNvPr id="9" name="Rounded Rectangle 8"/>
          <p:cNvSpPr/>
          <p:nvPr/>
        </p:nvSpPr>
        <p:spPr>
          <a:xfrm>
            <a:off x="4377842" y="3794760"/>
            <a:ext cx="3436010" cy="1188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B E Y O N D   R E T E N T I O N</a:t>
            </a:r>
          </a:p>
          <a:p>
            <a:r>
              <a:rPr sz="1000" b="0" i="0">
                <a:solidFill>
                  <a:srgbClr val="222220"/>
                </a:solidFill>
                <a:latin typeface="DM Sans"/>
              </a:rPr>
              <a:t>Lower burnout and stronger day-to-day wellbeing show up in engagement, culture, and quality of care — the outcomes VEG already measures and celebrates.</a:t>
            </a:r>
          </a:p>
        </p:txBody>
      </p:sp>
      <p:sp>
        <p:nvSpPr>
          <p:cNvPr id="10" name="Rounded Rectangle 9"/>
          <p:cNvSpPr/>
          <p:nvPr/>
        </p:nvSpPr>
        <p:spPr>
          <a:xfrm>
            <a:off x="7978444" y="4069080"/>
            <a:ext cx="3436010" cy="118872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V E G ' S   S T R A T E G I C   P R I O R I T I E S</a:t>
            </a:r>
          </a:p>
          <a:p>
            <a:r>
              <a:rPr sz="1000" b="0" i="0">
                <a:solidFill>
                  <a:srgbClr val="222220"/>
                </a:solidFill>
                <a:latin typeface="DM Sans"/>
              </a:rPr>
              <a:t>With growing case volumes, retaining highly skilled talent is vital — and the capabilities this membership builds are exactly what keeps people at VEG.</a:t>
            </a:r>
          </a:p>
        </p:txBody>
      </p:sp>
      <p:sp>
        <p:nvSpPr>
          <p:cNvPr id="11" name="TextBox 10"/>
          <p:cNvSpPr txBox="1"/>
          <p:nvPr/>
        </p:nvSpPr>
        <p:spPr>
          <a:xfrm>
            <a:off x="777240" y="6035040"/>
            <a:ext cx="10637215" cy="822960"/>
          </a:xfrm>
          <a:prstGeom prst="rect">
            <a:avLst/>
          </a:prstGeom>
          <a:noFill/>
        </p:spPr>
        <p:txBody>
          <a:bodyPr wrap="square" anchor="t" lIns="0" rIns="0" tIns="0" bIns="0">
            <a:spAutoFit/>
          </a:bodyPr>
          <a:lstStyle/>
          <a:p>
            <a:r>
              <a:rPr sz="750" b="0" i="0">
                <a:solidFill>
                  <a:srgbClr val="6B6B64"/>
                </a:solidFill>
                <a:latin typeface="DM Sans"/>
              </a:rPr>
              <a:t>Sources: AVMA Economic State of the Veterinary Profession benchmarking, 2024 ($554,982 avg. revenue per FTE veterinarian). AAHA survey, 2023 (avg. DVM time-to-hire: 15 months). AAHA turnover data as cited by the AVMA (~23% avg. annual team turnover).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756855" y="365760"/>
            <a:ext cx="3657600" cy="274320"/>
          </a:xfrm>
          <a:prstGeom prst="rect">
            <a:avLst/>
          </a:prstGeom>
          <a:noFill/>
        </p:spPr>
        <p:txBody>
          <a:bodyPr wrap="square" anchor="t" lIns="0" rIns="0" tIns="0" bIns="0">
            <a:spAutoFit/>
          </a:bodyPr>
          <a:lstStyle/>
          <a:p>
            <a:pPr algn="r"/>
            <a:r>
              <a:rPr sz="900" b="0" i="0">
                <a:solidFill>
                  <a:srgbClr val="6B6B64"/>
                </a:solidFill>
                <a:latin typeface="DM Sans"/>
              </a:rPr>
              <a:t>07 · The Investment</a:t>
            </a:r>
          </a:p>
        </p:txBody>
      </p:sp>
      <p:sp>
        <p:nvSpPr>
          <p:cNvPr id="3" name="TextBox 2"/>
          <p:cNvSpPr txBox="1"/>
          <p:nvPr/>
        </p:nvSpPr>
        <p:spPr>
          <a:xfrm>
            <a:off x="777240" y="502920"/>
            <a:ext cx="10637215" cy="320040"/>
          </a:xfrm>
          <a:prstGeom prst="rect">
            <a:avLst/>
          </a:prstGeom>
          <a:noFill/>
        </p:spPr>
        <p:txBody>
          <a:bodyPr wrap="square" anchor="t" lIns="0" rIns="0" tIns="0" bIns="0">
            <a:spAutoFit/>
          </a:bodyPr>
          <a:lstStyle/>
          <a:p>
            <a:r>
              <a:rPr sz="1000" b="1" i="0">
                <a:solidFill>
                  <a:srgbClr val="2A7C7B"/>
                </a:solidFill>
                <a:latin typeface="DM Sans"/>
              </a:rPr>
              <a:t>T H E   I N V E S T M E N T</a:t>
            </a:r>
          </a:p>
        </p:txBody>
      </p:sp>
      <p:sp>
        <p:nvSpPr>
          <p:cNvPr id="4" name="TextBox 3"/>
          <p:cNvSpPr txBox="1"/>
          <p:nvPr/>
        </p:nvSpPr>
        <p:spPr>
          <a:xfrm>
            <a:off x="777240" y="868680"/>
            <a:ext cx="9148005" cy="1463040"/>
          </a:xfrm>
          <a:prstGeom prst="rect">
            <a:avLst/>
          </a:prstGeom>
          <a:noFill/>
        </p:spPr>
        <p:txBody>
          <a:bodyPr wrap="square" anchor="t" lIns="0" rIns="0" tIns="0" bIns="0">
            <a:spAutoFit/>
          </a:bodyPr>
          <a:lstStyle/>
          <a:p>
            <a:r>
              <a:rPr sz="2700" b="0" i="0">
                <a:solidFill>
                  <a:srgbClr val="222220"/>
                </a:solidFill>
                <a:latin typeface="Georgia"/>
              </a:rPr>
              <a:t>One organizational investment. Every VEGgie included.</a:t>
            </a:r>
          </a:p>
        </p:txBody>
      </p:sp>
      <p:sp>
        <p:nvSpPr>
          <p:cNvPr id="5" name="TextBox 4"/>
          <p:cNvSpPr txBox="1"/>
          <p:nvPr/>
        </p:nvSpPr>
        <p:spPr>
          <a:xfrm>
            <a:off x="777240" y="1600200"/>
            <a:ext cx="9148005" cy="822960"/>
          </a:xfrm>
          <a:prstGeom prst="rect">
            <a:avLst/>
          </a:prstGeom>
          <a:noFill/>
        </p:spPr>
        <p:txBody>
          <a:bodyPr wrap="square" anchor="t" lIns="0" rIns="0" tIns="0" bIns="0">
            <a:spAutoFit/>
          </a:bodyPr>
          <a:lstStyle/>
          <a:p>
            <a:r>
              <a:rPr sz="1200" b="0" i="1">
                <a:solidFill>
                  <a:srgbClr val="222220"/>
                </a:solidFill>
                <a:latin typeface="DM Sans"/>
              </a:rPr>
              <a:t>This enterprise partnership provides unlimited access for every VEG employee through one annual organizational investment.</a:t>
            </a:r>
          </a:p>
        </p:txBody>
      </p:sp>
      <p:sp>
        <p:nvSpPr>
          <p:cNvPr id="6" name="Rounded Rectangle 5"/>
          <p:cNvSpPr/>
          <p:nvPr/>
        </p:nvSpPr>
        <p:spPr>
          <a:xfrm>
            <a:off x="777240" y="2286000"/>
            <a:ext cx="3423818" cy="224028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spcAft>
                <a:spcPts val="400"/>
              </a:spcAft>
            </a:pPr>
            <a:r>
              <a:rPr sz="900" b="1" i="0">
                <a:solidFill>
                  <a:srgbClr val="2A7C7B"/>
                </a:solidFill>
                <a:latin typeface="DM Sans"/>
              </a:rPr>
              <a:t>A N N U A L   I N V E S T M E N T</a:t>
            </a:r>
          </a:p>
          <a:p>
            <a:pPr>
              <a:spcAft>
                <a:spcPts val="400"/>
              </a:spcAft>
            </a:pPr>
            <a:r>
              <a:rPr sz="3000" b="0" i="0">
                <a:solidFill>
                  <a:srgbClr val="2A7C7B"/>
                </a:solidFill>
                <a:latin typeface="Georgia"/>
              </a:rPr>
              <a:t>$58,800</a:t>
            </a:r>
            <a:r>
              <a:rPr sz="1100" b="0" i="0">
                <a:solidFill>
                  <a:srgbClr val="6B6B64"/>
                </a:solidFill>
                <a:latin typeface="DM Sans"/>
              </a:rPr>
              <a:t> /year</a:t>
            </a:r>
          </a:p>
          <a:p>
            <a:r>
              <a:rPr sz="1000" b="0" i="0">
                <a:solidFill>
                  <a:srgbClr val="222220"/>
                </a:solidFill>
                <a:latin typeface="DM Sans"/>
              </a:rPr>
              <a:t>Billed monthly at $4,900 — fixed regardless of enrollment</a:t>
            </a:r>
          </a:p>
        </p:txBody>
      </p:sp>
      <p:sp>
        <p:nvSpPr>
          <p:cNvPr id="7" name="Rounded Rectangle 6"/>
          <p:cNvSpPr/>
          <p:nvPr/>
        </p:nvSpPr>
        <p:spPr>
          <a:xfrm>
            <a:off x="4383938" y="2286000"/>
            <a:ext cx="3423818" cy="224028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spcAft>
                <a:spcPts val="400"/>
              </a:spcAft>
            </a:pPr>
            <a:r>
              <a:rPr sz="900" b="1" i="0">
                <a:solidFill>
                  <a:srgbClr val="2A7C7B"/>
                </a:solidFill>
                <a:latin typeface="DM Sans"/>
              </a:rPr>
              <a:t>W H O ' S   I N C L U D E D</a:t>
            </a:r>
          </a:p>
          <a:p>
            <a:pPr>
              <a:spcAft>
                <a:spcPts val="400"/>
              </a:spcAft>
            </a:pPr>
            <a:r>
              <a:rPr sz="3000" b="0" i="0">
                <a:solidFill>
                  <a:srgbClr val="222220"/>
                </a:solidFill>
                <a:latin typeface="Georgia"/>
              </a:rPr>
              <a:t>5,200+</a:t>
            </a:r>
            <a:r>
              <a:rPr sz="1100" b="0" i="0">
                <a:solidFill>
                  <a:srgbClr val="6B6B64"/>
                </a:solidFill>
                <a:latin typeface="DM Sans"/>
              </a:rPr>
              <a:t> VEGgies</a:t>
            </a:r>
          </a:p>
          <a:p>
            <a:r>
              <a:rPr sz="1000" b="0" i="0">
                <a:solidFill>
                  <a:srgbClr val="222220"/>
                </a:solidFill>
                <a:latin typeface="DM Sans"/>
              </a:rPr>
              <a:t>Every employee, unlimited access, all new content as it's released</a:t>
            </a:r>
          </a:p>
        </p:txBody>
      </p:sp>
      <p:sp>
        <p:nvSpPr>
          <p:cNvPr id="8" name="Rounded Rectangle 7"/>
          <p:cNvSpPr/>
          <p:nvPr/>
        </p:nvSpPr>
        <p:spPr>
          <a:xfrm>
            <a:off x="7990636" y="2286000"/>
            <a:ext cx="3423818" cy="224028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spcAft>
                <a:spcPts val="400"/>
              </a:spcAft>
            </a:pPr>
            <a:r>
              <a:rPr sz="900" b="1" i="0">
                <a:solidFill>
                  <a:srgbClr val="2A7C7B"/>
                </a:solidFill>
                <a:latin typeface="DM Sans"/>
              </a:rPr>
              <a:t>A S   V E G   G R O W S</a:t>
            </a:r>
          </a:p>
          <a:p>
            <a:pPr>
              <a:spcAft>
                <a:spcPts val="400"/>
              </a:spcAft>
            </a:pPr>
            <a:r>
              <a:rPr sz="3000" b="0" i="0">
                <a:solidFill>
                  <a:srgbClr val="2A7C7B"/>
                </a:solidFill>
                <a:latin typeface="Georgia"/>
              </a:rPr>
              <a:t>$0</a:t>
            </a:r>
            <a:r>
              <a:rPr sz="1100" b="0" i="0">
                <a:solidFill>
                  <a:srgbClr val="6B6B64"/>
                </a:solidFill>
                <a:latin typeface="DM Sans"/>
              </a:rPr>
              <a:t> more</a:t>
            </a:r>
          </a:p>
          <a:p>
            <a:r>
              <a:rPr sz="1000" b="0" i="0">
                <a:solidFill>
                  <a:srgbClr val="222220"/>
                </a:solidFill>
                <a:latin typeface="DM Sans"/>
              </a:rPr>
              <a:t>Scales automatically — 28 new hospitals next year (~900 more VEGgies and 28 more facilitation opportunities), no per-user licensing, no IT lift</a:t>
            </a:r>
          </a:p>
        </p:txBody>
      </p:sp>
      <p:sp>
        <p:nvSpPr>
          <p:cNvPr id="9" name="Rectangle 8"/>
          <p:cNvSpPr/>
          <p:nvPr/>
        </p:nvSpPr>
        <p:spPr>
          <a:xfrm>
            <a:off x="777240" y="4800600"/>
            <a:ext cx="45720" cy="960120"/>
          </a:xfrm>
          <a:prstGeom prst="rect">
            <a:avLst/>
          </a:prstGeom>
          <a:solidFill>
            <a:srgbClr val="2A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4800600"/>
            <a:ext cx="10166006" cy="960120"/>
          </a:xfrm>
          <a:prstGeom prst="roundRect">
            <a:avLst>
              <a:gd name="adj" fmla="val 2000"/>
            </a:avLst>
          </a:prstGeom>
          <a:solidFill>
            <a:srgbClr val="E9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91440" bIns="91440"/>
          <a:lstStyle/>
          <a:p>
            <a:pPr algn="ctr"/>
            <a:r>
              <a:rPr sz="1100" b="0" i="0">
                <a:solidFill>
                  <a:srgbClr val="222220"/>
                </a:solidFill>
                <a:latin typeface="DM Sans"/>
              </a:rPr>
              <a:t>Structured as a fixed annual operating agreement. Includes everything: the full membership, every new course and meditation, the monthly coaching call, hospital-wide facilitations for individual locations upon request, RACE-approved CE, Okta and app access, and Bethany's ongoing program leadership.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756855" y="365760"/>
            <a:ext cx="3657600" cy="274320"/>
          </a:xfrm>
          <a:prstGeom prst="rect">
            <a:avLst/>
          </a:prstGeom>
          <a:noFill/>
        </p:spPr>
        <p:txBody>
          <a:bodyPr wrap="square" anchor="t" lIns="0" rIns="0" tIns="0" bIns="0">
            <a:spAutoFit/>
          </a:bodyPr>
          <a:lstStyle/>
          <a:p>
            <a:pPr algn="r"/>
            <a:r>
              <a:rPr sz="900" b="0" i="0">
                <a:solidFill>
                  <a:srgbClr val="6B6B64"/>
                </a:solidFill>
                <a:latin typeface="DM Sans"/>
              </a:rPr>
              <a:t>08 · Access</a:t>
            </a:r>
          </a:p>
        </p:txBody>
      </p:sp>
      <p:sp>
        <p:nvSpPr>
          <p:cNvPr id="3" name="TextBox 2"/>
          <p:cNvSpPr txBox="1"/>
          <p:nvPr/>
        </p:nvSpPr>
        <p:spPr>
          <a:xfrm>
            <a:off x="777240" y="502920"/>
            <a:ext cx="10637215" cy="320040"/>
          </a:xfrm>
          <a:prstGeom prst="rect">
            <a:avLst/>
          </a:prstGeom>
          <a:noFill/>
        </p:spPr>
        <p:txBody>
          <a:bodyPr wrap="square" anchor="t" lIns="0" rIns="0" tIns="0" bIns="0">
            <a:spAutoFit/>
          </a:bodyPr>
          <a:lstStyle/>
          <a:p>
            <a:r>
              <a:rPr sz="1000" b="1" i="0">
                <a:solidFill>
                  <a:srgbClr val="2A7C7B"/>
                </a:solidFill>
                <a:latin typeface="DM Sans"/>
              </a:rPr>
              <a:t>A C C E S S</a:t>
            </a:r>
          </a:p>
        </p:txBody>
      </p:sp>
      <p:sp>
        <p:nvSpPr>
          <p:cNvPr id="4" name="TextBox 3"/>
          <p:cNvSpPr txBox="1"/>
          <p:nvPr/>
        </p:nvSpPr>
        <p:spPr>
          <a:xfrm>
            <a:off x="777240" y="868680"/>
            <a:ext cx="9148005" cy="1463040"/>
          </a:xfrm>
          <a:prstGeom prst="rect">
            <a:avLst/>
          </a:prstGeom>
          <a:noFill/>
        </p:spPr>
        <p:txBody>
          <a:bodyPr wrap="square" anchor="t" lIns="0" rIns="0" tIns="0" bIns="0">
            <a:spAutoFit/>
          </a:bodyPr>
          <a:lstStyle/>
          <a:p>
            <a:r>
              <a:rPr sz="3000" b="0" i="0">
                <a:solidFill>
                  <a:srgbClr val="222220"/>
                </a:solidFill>
                <a:latin typeface="Georgia"/>
              </a:rPr>
              <a:t>Two ways in — at work and on the go.</a:t>
            </a:r>
          </a:p>
        </p:txBody>
      </p:sp>
      <p:sp>
        <p:nvSpPr>
          <p:cNvPr id="5" name="TextBox 4"/>
          <p:cNvSpPr txBox="1"/>
          <p:nvPr/>
        </p:nvSpPr>
        <p:spPr>
          <a:xfrm>
            <a:off x="777240" y="1783080"/>
            <a:ext cx="9148005" cy="822960"/>
          </a:xfrm>
          <a:prstGeom prst="rect">
            <a:avLst/>
          </a:prstGeom>
          <a:noFill/>
        </p:spPr>
        <p:txBody>
          <a:bodyPr wrap="square" anchor="t" lIns="0" rIns="0" tIns="0" bIns="0">
            <a:spAutoFit/>
          </a:bodyPr>
          <a:lstStyle/>
          <a:p>
            <a:r>
              <a:rPr sz="1200" b="0" i="1">
                <a:solidFill>
                  <a:srgbClr val="222220"/>
                </a:solidFill>
                <a:latin typeface="DM Sans"/>
              </a:rPr>
              <a:t>VEGgies can reach the membership through a tile in VEG's Okta dashboard, or from anywhere through the Evolved Vets App.</a:t>
            </a:r>
          </a:p>
        </p:txBody>
      </p:sp>
      <p:sp>
        <p:nvSpPr>
          <p:cNvPr id="6" name="Rounded Rectangle 5"/>
          <p:cNvSpPr/>
          <p:nvPr/>
        </p:nvSpPr>
        <p:spPr>
          <a:xfrm>
            <a:off x="777240" y="2651760"/>
            <a:ext cx="3423818" cy="178308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V I A   O K T A</a:t>
            </a:r>
          </a:p>
          <a:p>
            <a:r>
              <a:rPr sz="1000" b="0" i="0">
                <a:solidFill>
                  <a:srgbClr val="222220"/>
                </a:solidFill>
                <a:latin typeface="DM Sans"/>
              </a:rPr>
              <a:t>A tile in VEG's Okta dashboard, right next to the tools VEGgies use every shift. One click and they're in the member portal.</a:t>
            </a:r>
          </a:p>
        </p:txBody>
      </p:sp>
      <p:sp>
        <p:nvSpPr>
          <p:cNvPr id="7" name="Rounded Rectangle 6"/>
          <p:cNvSpPr/>
          <p:nvPr/>
        </p:nvSpPr>
        <p:spPr>
          <a:xfrm>
            <a:off x="4383938" y="2651760"/>
            <a:ext cx="3423818" cy="178308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V I A   T H E   E V O L V E D   V E T S   A P P</a:t>
            </a:r>
          </a:p>
          <a:p>
            <a:r>
              <a:rPr sz="1000" b="0" i="0">
                <a:solidFill>
                  <a:srgbClr val="222220"/>
                </a:solidFill>
                <a:latin typeface="DM Sans"/>
              </a:rPr>
              <a:t>Meditations, community, courses, and coaching calls on their phone — before a shift, after a hard case, wherever they are.</a:t>
            </a:r>
          </a:p>
        </p:txBody>
      </p:sp>
      <p:sp>
        <p:nvSpPr>
          <p:cNvPr id="8" name="Rounded Rectangle 7"/>
          <p:cNvSpPr/>
          <p:nvPr/>
        </p:nvSpPr>
        <p:spPr>
          <a:xfrm>
            <a:off x="7990636" y="2651760"/>
            <a:ext cx="3423818" cy="1783080"/>
          </a:xfrm>
          <a:prstGeom prst="roundRect">
            <a:avLst>
              <a:gd name="adj" fmla="val 4000"/>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400"/>
              </a:spcAft>
            </a:pPr>
            <a:r>
              <a:rPr sz="900" b="1" i="0">
                <a:solidFill>
                  <a:srgbClr val="2A7C7B"/>
                </a:solidFill>
                <a:latin typeface="DM Sans"/>
              </a:rPr>
              <a:t>A   P A R T N E R S H I P   W I T H   V E G   I T</a:t>
            </a:r>
          </a:p>
          <a:p>
            <a:r>
              <a:rPr sz="1000" b="0" i="0">
                <a:solidFill>
                  <a:srgbClr val="222220"/>
                </a:solidFill>
                <a:latin typeface="DM Sans"/>
              </a:rPr>
              <a:t>Bethany will partner with VEG's technology team to stand up the tile and access — IT guides the how, TEV provides everything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5150"/>
        </a:solidFill>
        <a:effectLst/>
      </p:bgPr>
    </p:bg>
    <p:spTree>
      <p:nvGrpSpPr>
        <p:cNvPr id="1" name=""/>
        <p:cNvGrpSpPr/>
        <p:nvPr/>
      </p:nvGrpSpPr>
      <p:grpSpPr/>
      <p:sp>
        <p:nvSpPr>
          <p:cNvPr id="2" name="TextBox 1"/>
          <p:cNvSpPr txBox="1"/>
          <p:nvPr/>
        </p:nvSpPr>
        <p:spPr>
          <a:xfrm>
            <a:off x="777240" y="2103120"/>
            <a:ext cx="10637215" cy="320040"/>
          </a:xfrm>
          <a:prstGeom prst="rect">
            <a:avLst/>
          </a:prstGeom>
          <a:noFill/>
        </p:spPr>
        <p:txBody>
          <a:bodyPr wrap="square" anchor="t" lIns="0" rIns="0" tIns="0" bIns="0">
            <a:spAutoFit/>
          </a:bodyPr>
          <a:lstStyle/>
          <a:p>
            <a:r>
              <a:rPr sz="1000" b="1" i="0">
                <a:solidFill>
                  <a:srgbClr val="B8D8D0"/>
                </a:solidFill>
                <a:latin typeface="DM Sans"/>
              </a:rPr>
              <a:t>I N   C L O S I N G</a:t>
            </a:r>
          </a:p>
        </p:txBody>
      </p:sp>
      <p:sp>
        <p:nvSpPr>
          <p:cNvPr id="3" name="TextBox 2"/>
          <p:cNvSpPr txBox="1"/>
          <p:nvPr/>
        </p:nvSpPr>
        <p:spPr>
          <a:xfrm>
            <a:off x="777240" y="2606040"/>
            <a:ext cx="9573493" cy="2286000"/>
          </a:xfrm>
          <a:prstGeom prst="rect">
            <a:avLst/>
          </a:prstGeom>
          <a:noFill/>
        </p:spPr>
        <p:txBody>
          <a:bodyPr wrap="square" anchor="t" lIns="0" rIns="0" tIns="0" bIns="0">
            <a:spAutoFit/>
          </a:bodyPr>
          <a:lstStyle/>
          <a:p>
            <a:r>
              <a:rPr sz="3000" b="0" i="0">
                <a:solidFill>
                  <a:srgbClr val="F3F1E9"/>
                </a:solidFill>
                <a:latin typeface="Georgia"/>
              </a:rPr>
              <a:t>I'd be honored to partner with VEG in building the healthiest, most resilient veterinary workforce in the profession.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